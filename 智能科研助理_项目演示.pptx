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开场一句话：这是一个把「论文知识库」做成可问答系统的完整工程 —— 检索、生成、Agent、前端、评测五个模块全部自己实现，只依赖 NumPy。</a:t>
            </a:r>
          </a:p>
          <a:p>
            <a:r>
              <a:t>成员姓名/学号/班级请在封面自行填写。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念一遍目录即可，重点提示：评测与复盘占 6 页 —— 这个项目的重心在「做完并测出来」，而不是「写完代码就结束」。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痛点讲具体：学生自己在写论文时最费时的三件事 —— 找、读、比。</a:t>
            </a:r>
          </a:p>
          <a:p>
            <a:r>
              <a:t>强调不是「做个聊天机器人」，而是完整工程 + 可评测。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讲清「依赖方向」：上层只调用下层接口，所以换成 Chroma / FAISS、换真实模型都不动上层代码。</a:t>
            </a:r>
          </a:p>
          <a:p>
            <a:r>
              <a:t>强调零框架不是为了炫技，是为了让「每层可替换、可单独测」。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两张图分别对应模块二/模块一（RAG）与模块三（Agent）。</a:t>
            </a:r>
          </a:p>
          <a:p>
            <a:r>
              <a:t>工具名逐个念一遍即可，重点说 knowledge_search 是主力，paper_compare 支撑「跨论文对比」这个选题痛点。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这页的核心是「为什么不按分数融合」：两路分数不可比，RRF 只用排名。</a:t>
            </a:r>
          </a:p>
          <a:p>
            <a:r>
              <a:t>最后一条预警留悬念 —— 下一页给数据，第 09 页给结论。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记忆层是模块三的一部分。先说「为什么要做」：多轮追问「它和 ResNet 相比如何」时，指代必须靠历史才能解析。</a:t>
            </a:r>
          </a:p>
          <a:p>
            <a:r>
              <a:t>再点出与缓存的交互：历史变了，缓存键就变 —— 避免答案串用。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现场演示时切到浏览器；这页作为备份 —— 万一现场跑不起来，用截图讲同样的内容。</a:t>
            </a:r>
          </a:p>
          <a:p>
            <a:r>
              <a:t>重点指第 ② 张：引用角标 + 右侧 Agent 轨迹，这是「可追溯」的直接证据。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评测方法讲三件事：多少题、什么口径、跑在什么后端。</a:t>
            </a:r>
          </a:p>
          <a:p>
            <a:r>
              <a:t>后端那句必须说清楚（mock + hash），否则指标会被误读成真实模型效果。</a:t>
            </a:r>
          </a:p>
          <a:p>
            <a:r>
              <a:t>KPI 一行一行念，突出引用准确率 100% 与降级率 15%。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四种策略：fixed / recursive / semantic / paper。semantic 切得最细（52 块）但指标并不最好 —— 粒度不是越细越好。</a:t>
            </a:r>
          </a:p>
          <a:p>
            <a:r>
              <a:t>Bad Case 只有一类失败：检索没召回。诚实说出来，下一页正好是改进它的迭代结果。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数据是同一份语料上真实跑出来的两组配置，不是估算。</a:t>
            </a:r>
          </a:p>
          <a:p>
            <a:r>
              <a:t>强调「三改一」：除了 Hit@5 +4.26%，延迟 -10.37%、降级率 -79.99% —— 降级率降低意味着「答不出来」的情况少了八成。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这页是「复盘」环节，讲的时候用「我们以为 → 数据说 → 所以我们改成」三段式。</a:t>
            </a:r>
          </a:p>
          <a:p>
            <a:r>
              <a:t>第 3 条可以展开：缓存正确性（降级不入库）和缓存性能（轻量列 + 矩阵乘）是两个独立问题。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这页是给评委的「验证入口」：三步启动、Docker、以及复现全部指标的三条命令。</a:t>
            </a:r>
          </a:p>
          <a:p>
            <a:r>
              <a:t>强调离线 mock 模式跑得起来 —— 不需要网络、不需要密钥也能看到完整功能。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收尾不吹：先把缺口说清楚，再说下一步怎么补。</a:t>
            </a:r>
          </a:p>
          <a:p>
            <a:r>
              <a:t>如果被问到「为什么语料是合成的」——回答：为了保证离线可复现与可分发，并已把这一点写进交付书与报告中。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" y="1481328"/>
            <a:ext cx="658368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生产实习课程报告 · 课程题目一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48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智能科研助理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6265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 i="0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基于 RAG + Agent 的论文知识库问答系统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611880"/>
            <a:ext cx="4206240" cy="18288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成员 1：＿＿＿＿班　＿＿＿＿号　＿＿＿＿＿（请填写）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成员 2：＿＿＿＿班　＿＿＿＿号　＿＿＿＿＿（请填写）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3822191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成员 3：＿＿＿＿班　＿＿＿＿号　＿＿＿＿＿（请填写）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成员 4：＿＿＿＿班　＿＿＿＿号　＿＿＿＿＿（请填写）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46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532120"/>
            <a:ext cx="1026871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5660136"/>
            <a:ext cx="50292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5532120"/>
            <a:ext cx="98663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交付物：代码仓库 · 技术设计文档 · 系统评测报告 · 用户使用手册 · 演示 PPT     |     运行环境：Python 3.10+ ，唯一必需依赖 NumPy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全篇 14 页，按「问题 → 架构 → 实现 → 评测 → 复盘」推进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408175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08175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344168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项目背景与痛点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为什么需要语义检索 + 引用溯源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57400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2203704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9696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系统架构总览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五层分层与一次问答的完整链路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52928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2999232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999232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35224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RAG 链路与 Agent 循环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手写实现，不依赖 LangChain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48456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3794759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7947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730752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混合检索与重排序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三档模式：vector / hybrid / full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43983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4590288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590288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526279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记忆与会话隔离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滑动窗口 + 摘要压缩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9512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385816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385816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321807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功能演示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四张真实运行截图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1261872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6743" y="1408175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6743" y="1408175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3671" y="1344168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评测方法与结果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61 题评测集 · 严格口径 · 一键复现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2057400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6743" y="2203704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6743" y="220370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3671" y="2139696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分块策略与 Bad Case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四种切分策略实测对比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8727" y="2852928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6743" y="2999232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6743" y="2999232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3671" y="2935224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一轮优化前后对比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真实运行、同语料对照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3648456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6743" y="3794759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37947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3671" y="3730752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踩坑记录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三条被实测数据推翻的直觉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8727" y="4443983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6743" y="4590288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6743" y="4590288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3671" y="4526279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部署与复现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三步启动 + Docker 一键部署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8727" y="5239512"/>
            <a:ext cx="53460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6743" y="5385816"/>
            <a:ext cx="457200" cy="384048"/>
          </a:xfrm>
          <a:prstGeom prst="roundRect">
            <a:avLst>
              <a:gd name="adj" fmla="val 2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6743" y="5385816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3671" y="5321807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局限与展望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如实标注的缺口与下一步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课程题目一：论文知识库问答系统 —— 传统关键词搜索答不了下面三类问题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346649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18287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297271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语义问题召不回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39"/>
            <a:ext cx="297271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「这个方法相比基线提升多少」这类问法不含原词，按字面匹配的搜索召回不到目标段落。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261872"/>
            <a:ext cx="346649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2602" y="1389888"/>
            <a:ext cx="50292" cy="182879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922" y="1463039"/>
            <a:ext cx="297271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跨论文对比靠人工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1920239"/>
            <a:ext cx="297271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同一主题分散在多篇 PDF，人工比对方法、数据集与指标，费时且容易漏。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1261872"/>
            <a:ext cx="346649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8276" y="1389888"/>
            <a:ext cx="50292" cy="1828799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6" y="1463039"/>
            <a:ext cx="297271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引用不可追溯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1920239"/>
            <a:ext cx="297271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通用大模型直接作答给不出出处；学术场景里「答案从哪来」与答案本身同等重要。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576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本项目给出的答案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59935"/>
            <a:ext cx="2641015" cy="603504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59935"/>
            <a:ext cx="264101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混合检索：向量 + BM25 + RRF 融合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2535" y="4059935"/>
            <a:ext cx="2641015" cy="603504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2535" y="4059935"/>
            <a:ext cx="264101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ReAct Agent：8 个工具自主决策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59935"/>
            <a:ext cx="2641015" cy="603504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8143" y="4059935"/>
            <a:ext cx="264101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多轮记忆：滑动窗口 + 摘要压缩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751" y="4059935"/>
            <a:ext cx="2641015" cy="603504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83751" y="4059935"/>
            <a:ext cx="264101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引用可溯源：答案附【来源 p.页码】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82896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010912"/>
            <a:ext cx="50292" cy="402335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882896"/>
            <a:ext cx="1065550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0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一句话定位：把「找论文、读论文、比论文、答问题」串成一条可评测、可复现、可追溯的链路 —— 而不是再做一个只会聊天的机器人。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五个模块对应五层：接入 / Agent / 生成 / 检索 / 数据，逐层向下依赖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7276"/>
            <a:ext cx="5943600" cy="42001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1667276"/>
            <a:ext cx="5943600" cy="4200102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39128" y="1261872"/>
            <a:ext cx="48856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39128" y="1389888"/>
            <a:ext cx="50292" cy="512063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335024"/>
            <a:ext cx="4483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接入层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1645919"/>
            <a:ext cx="44833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Web 界面 + SSE 流式；/api/ask、/api/tools、/api/metrics 等接口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9128" y="2148839"/>
            <a:ext cx="48856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39128" y="2276856"/>
            <a:ext cx="50292" cy="512063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221991"/>
            <a:ext cx="4483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Agent 决策层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2532887"/>
            <a:ext cx="44833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手写 ReAct 循环 + 意图路由；8 个工具；最多 8 轮、工具超时 45s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9128" y="3035808"/>
            <a:ext cx="48856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39128" y="3163824"/>
            <a:ext cx="50292" cy="512063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3108960"/>
            <a:ext cx="4483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生成层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3419856"/>
            <a:ext cx="44833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RAG 管线 · 提示词模板 · 引用解析；语义缓存 相似度 0.93 / TTL 7 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39128" y="3922776"/>
            <a:ext cx="48856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39128" y="4050791"/>
            <a:ext cx="50292" cy="512063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995928"/>
            <a:ext cx="4483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检索层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306824"/>
            <a:ext cx="44833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向量 + BM25 → RRF 融合 → 启发式重排；vector / hybrid / full 三档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9128" y="4809744"/>
            <a:ext cx="48856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39128" y="4937759"/>
            <a:ext cx="50292" cy="512063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4882896"/>
            <a:ext cx="4483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5193792"/>
            <a:ext cx="44833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PDF/DOCX/TXT 解析（内置零依赖）→ 四种分块策略 → 向量库三后端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742432"/>
            <a:ext cx="11057839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5870448"/>
            <a:ext cx="50292" cy="21945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742432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后端零框架：向量库、BM25、ReAct 循环、Web 服务全部基于标准库与 NumPy 自己实现，再以「适配器 + 能力探测」的方式接可选依赖。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RAG 链路与 Agent 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检索 → 组装 → 生成 → 引用核对；Agent 在其上做「用哪个工具、要不要再查一轮」的决策</a:t>
            </a:r>
          </a:p>
        </p:txBody>
      </p:sp>
      <p:pic>
        <p:nvPicPr>
          <p:cNvPr id="5" name="Picture 4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1" y="1261872"/>
            <a:ext cx="4954684" cy="22128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4891" y="1261872"/>
            <a:ext cx="4954684" cy="2212848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74720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图 1  RAG 问答链路：检索、重排、上下文截断、流式生成与引用核对</a:t>
            </a:r>
          </a:p>
        </p:txBody>
      </p:sp>
      <p:pic>
        <p:nvPicPr>
          <p:cNvPr id="8" name="Picture 7" descr="react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119" y="1261872"/>
            <a:ext cx="4954684" cy="221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72119" y="1261872"/>
            <a:ext cx="4954684" cy="2212848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3474720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图 2  Agent ReAct 循环：Thought → Action → Observation，直至 final_answer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50208"/>
            <a:ext cx="5364327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78224"/>
            <a:ext cx="50292" cy="80467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907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07408"/>
            <a:ext cx="49071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候选召回与重排完成后按相关度排序、截断到 6000 字符；生成走流式，引用解析后与检索结果逐条核对，来源对不上的标注「未核实」。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0439" y="3950208"/>
            <a:ext cx="5364327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0439" y="4078224"/>
            <a:ext cx="50292" cy="804671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471" y="4078224"/>
            <a:ext cx="4907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471" y="4407408"/>
            <a:ext cx="49071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模型输出 JSON 决策（thought / action / args）；最多 8 轮、并行工具上限 3、死循环检测窗口 2 —— 决策过程在前端轨迹栏全程可见。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206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8 个工具（Agent 可自主调用）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knowledge_search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2873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2873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paper_metadata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8819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8819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paper_compare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765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765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keyword_extract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0711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0711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summarize_paper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6657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6657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current_time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2603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603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calculator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8549" y="5431536"/>
            <a:ext cx="128621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8549" y="5431536"/>
            <a:ext cx="1286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web_search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混合检索与重排序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两路召回用排名融合（RRF）合并，规避分数量纲不可比；重排是可选的一档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16736"/>
          <a:ext cx="69037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600200"/>
                <a:gridCol w="178308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检索模式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 Hit@5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 NDCG@5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平均延迟 (ms)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纯向量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0.5610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混合（RRF）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0.5827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 + 重排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0.5681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2962656"/>
            <a:ext cx="6903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评测样本 40 题（严格口径，按文档级去重）。hybrid 引擎口径 Hit@K = 0.8000，作为辅助参考。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53527" y="1261872"/>
            <a:ext cx="397123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53527" y="1389888"/>
            <a:ext cx="50292" cy="6400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353312"/>
            <a:ext cx="3568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双路召回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664207"/>
            <a:ext cx="35689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向量：hash n-gram 特征，512 维，零依赖确定性；BM25：k1 = 1.5、b = 0.75。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53527" y="2267712"/>
            <a:ext cx="397123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53527" y="2395728"/>
            <a:ext cx="50292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2359152"/>
            <a:ext cx="3568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RRF 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2670048"/>
            <a:ext cx="35689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k = 60，只用排名不用分数 —— 两路分数量纲天然不可比，按排名融合更稳。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3527" y="3273552"/>
            <a:ext cx="397123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3527" y="3401568"/>
            <a:ext cx="50292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3364992"/>
            <a:ext cx="3568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启发式重排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3675888"/>
            <a:ext cx="35689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6 个特征加权 + 相关性门控，输出 0~1 置信度；可选接入 ollama/local 模型。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3527" y="4279392"/>
            <a:ext cx="397123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53527" y="4407407"/>
            <a:ext cx="50292" cy="6400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4370831"/>
            <a:ext cx="3568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1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不硬答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4681728"/>
            <a:ext cx="35689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重排置信度低于 0.25 时走降级话术（说明「知识库中没有足够依据」），不编答案。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724144"/>
            <a:ext cx="11057839" cy="493776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5852160"/>
            <a:ext cx="50292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724144"/>
            <a:ext cx="1065550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实测反直觉：叠加重排后严格 NDCG@5 由 0.5827 降到 0.5681 —— 重排不是「越多越好」，结论见第 09 页优化对比。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记忆与会话隔离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会话级记忆：滑动窗口控 token，摘要压缩保住长对话的语义连贯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346649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2761487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滑动窗口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39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max_turns = 20、max_tokens = 3000；超出自动从最早的历史开始截断，保证注入模型的上下文不超预算。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7" y="3538727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38144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只保留最近若干轮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3922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822191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token 预算硬约束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1261872"/>
            <a:ext cx="346649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2602" y="1389888"/>
            <a:ext cx="50292" cy="2761487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922" y="1463039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摘要压缩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1920239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轮次超过 12 轮时，生成阶段性摘要替换原始历史 —— 省 token 的同时保持语义连贯，避免「聊到后面忘了前面」。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922" y="3538727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9802" y="3438144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阈值 12 轮触发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922" y="3922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9802" y="3822191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摘要替换原始历史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8276" y="1261872"/>
            <a:ext cx="346649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8276" y="1389888"/>
            <a:ext cx="50292" cy="2761487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2596" y="1463039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会话隔离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596" y="1920239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SQLite 持久化（chat.db），按 session 隔离；历史指纹参与缓存键，「问题相同、上文不同」不会串用答案。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2596" y="3538727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5476" y="3438144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刷新页面不丢上下文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596" y="3922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5476" y="3822191"/>
            <a:ext cx="27532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缓存键含历史指纹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8056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08576"/>
            <a:ext cx="50292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480560"/>
            <a:ext cx="1065550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效果：数十轮长对话不会被模型上下文窗口卡住；同一问题在上文变化后不会被错误复用旧答案。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四张真实运行截图：问答、引用与轨迹、多轮追问、运行指标（截图由脚本自动采集）</a:t>
            </a:r>
          </a:p>
        </p:txBody>
      </p:sp>
      <p:pic>
        <p:nvPicPr>
          <p:cNvPr id="5" name="Picture 4" descr="01_主界面_知识库与对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37" y="1261872"/>
            <a:ext cx="3364992" cy="2103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59737" y="1261872"/>
            <a:ext cx="3364992" cy="210312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64992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① 主界面：左侧知识库与上传，中间对话区</a:t>
            </a:r>
          </a:p>
        </p:txBody>
      </p:sp>
      <p:pic>
        <p:nvPicPr>
          <p:cNvPr id="8" name="Picture 7" descr="02_问答_引用与Agent轨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37" y="3895344"/>
            <a:ext cx="3364992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59737" y="3895344"/>
            <a:ext cx="3364992" cy="210312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98464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② 每个答案都带引用；右侧可见 Agent 决策轨迹</a:t>
            </a:r>
          </a:p>
        </p:txBody>
      </p:sp>
      <p:pic>
        <p:nvPicPr>
          <p:cNvPr id="11" name="Picture 10" descr="03_多轮追问_上下文记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965" y="1261872"/>
            <a:ext cx="3364992" cy="2103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66965" y="1261872"/>
            <a:ext cx="3364992" cy="210312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3364992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③ 多轮追问：指代由上下文记忆解析</a:t>
            </a:r>
          </a:p>
        </p:txBody>
      </p:sp>
      <p:pic>
        <p:nvPicPr>
          <p:cNvPr id="14" name="Picture 13" descr="05_运行指标面板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965" y="3895344"/>
            <a:ext cx="3364992" cy="2103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66965" y="3895344"/>
            <a:ext cx="3364992" cy="210312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5998464"/>
            <a:ext cx="53506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④ 运行指标面板：检索/生成/缓存实时刷新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评测方法与结果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61 题评测集、严格口径统计、一条命令复现 —— 指标全部来自 reports/ 下的真实产物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4892040" cy="4443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418795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3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评测方法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434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61 题评测集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题型分布：事实型 25、对比型 12、归纳型 12、推理型 12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评测语料：3 篇文档 / 27 个分块 / 平均 433.0 字符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0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严格口径：</a:t>
            </a: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按文档级去重统计，未召回不计入；另有引擎口径辅助参考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0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运行后端：</a:t>
            </a: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LLM = mock（离线确定性）、Embedding = hash 512 维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0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证据链：</a:t>
            </a: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评测集 JSON + 明细 JSON/XLSX + 三份报告，可一键重跑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64608"/>
            <a:ext cx="4379975" cy="694944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992624"/>
            <a:ext cx="50292" cy="43891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864608"/>
            <a:ext cx="3977639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mock 后端下的指标反映的是工程链路正确性（检索、引用、降级、缓存），不代表真实大模型的生成质量 —— 这一点在交付书与评测报告中同样如实标注。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5583" y="1261872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353312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0.7000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严格 Hit@5（hybrid）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5583" y="2395728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2487168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0.5827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严格 NDCG@5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3" y="3529584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3621024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0.5883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严格 MRR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5583" y="4663440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4754879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1.83 ms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端到端平均延迟（检索 + 生成）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75623" y="1261872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1927" y="1353312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100%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工具调用准确率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75623" y="2395728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1927" y="2487168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2.0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平均推理轮次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5623" y="3529584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1927" y="3621024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100%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引用准确率（覆盖率 97.5%）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75623" y="4663440"/>
            <a:ext cx="274914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1927" y="4754879"/>
            <a:ext cx="2456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100" b="1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15.0%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降级率（低相关度 6 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分块策略对比与 Bad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同一语料、同一评测集，唯一变量是分块策略；Bad Case 全部集中在检索未召回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16736"/>
          <a:ext cx="7680959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143000"/>
                <a:gridCol w="1463040"/>
                <a:gridCol w="1600200"/>
                <a:gridCol w="16002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分块策略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分块数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 Hit@5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 NDCG@5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平均延迟 (ms)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固定窗口切分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1.124</a:t>
                      </a:r>
                    </a:p>
                  </a:txBody>
                  <a:tcPr marL="73152" marR="73152" marT="18288" marB="18288" anchor="ctr">
                    <a:solidFill>
                      <a:srgbClr val="DBEA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递归字符切分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0.6359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语义切分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0.7500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0.987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论文专用切分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0.7869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0.6354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0.972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4198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绿 = Hit@5 最优（recursive）　蓝 = NDCG@5 最优（fixed）　评测集 61 题、hybrid、top_k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5048" y="1261872"/>
            <a:ext cx="323971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5048" y="1389888"/>
            <a:ext cx="50292" cy="21214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408175"/>
            <a:ext cx="27825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Bad Case 分析（40 条样本）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828800"/>
            <a:ext cx="2782519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</a:pPr>
            <a:r>
              <a:rPr sz="1300" b="1" i="0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13 条</a:t>
            </a: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（32.5%）全部为「检索失败：未召回相关文档」，严重度 P1</a:t>
            </a:r>
          </a:p>
          <a:p>
            <a:pPr algn="l">
              <a:lnSpc>
                <a:spcPct val="124000"/>
              </a:lnSpc>
              <a:spcAft>
                <a:spcPts val="7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根因：hash 词面向量对中英跨语言无信号 + 术语表述差异 + candidate_k 偏小</a:t>
            </a:r>
          </a:p>
          <a:p>
            <a:pPr algn="l">
              <a:lnSpc>
                <a:spcPct val="124000"/>
              </a:lnSpc>
              <a:spcAft>
                <a:spcPts val="700"/>
              </a:spcAft>
            </a:pPr>
            <a:r>
              <a:rPr sz="11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引用错误 0 条</a:t>
            </a: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（P0 优先级严防，本轮未发现）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31920"/>
            <a:ext cx="11057839" cy="859536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59935"/>
            <a:ext cx="50292" cy="603503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931920"/>
            <a:ext cx="10655503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「能召回」≠「排得准」：Hit@5 最优是 recursive（0.8033），NDCG@5 最优却是 fixed（0.6530）—— 两个指标指向不同策略，说明选型不能只看单个数字；分块粒度、候选集大小与是否重排会相互影响。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优化前后对比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一轮参数迭代：同语料、真实运行、只改三个参数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357621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57621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candidate_k 20 →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261872"/>
            <a:ext cx="357621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7738" y="1261872"/>
            <a:ext cx="357621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enable_rerank true →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8548" y="1261872"/>
            <a:ext cx="357621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8548" y="1261872"/>
            <a:ext cx="357621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chunk_size 512 → 384（27 → 37 块）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883664"/>
          <a:ext cx="76809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554480"/>
                <a:gridCol w="155448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指标（严格口径）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优化前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优化后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4F46E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相对变化</a:t>
                      </a:r>
                    </a:p>
                  </a:txBody>
                  <a:tcPr marL="73152" marR="73152" marT="18288" marB="18288" anchor="ctr">
                    <a:solidFill>
                      <a:srgbClr val="EEF0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Hit@5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0.7705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+4.26%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MRR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+2.77%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Recall@5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0.6858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0.7131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+3.98%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NDCG@5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0.6238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0.6359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+1.94%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平均端到端延迟(ms)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1.7767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1.5925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-10.37%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降级率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0.1639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-79.99%</a:t>
                      </a:r>
                    </a:p>
                  </a:txBody>
                  <a:tcPr marL="73152" marR="73152" marT="18288" marB="18288" anchor="ctr"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引用准确率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659367" y="1883664"/>
            <a:ext cx="2965399" cy="3072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9367" y="2011680"/>
            <a:ext cx="50292" cy="28163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1" y="2029967"/>
            <a:ext cx="2526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这轮改了什么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1" y="2432304"/>
            <a:ext cx="252648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放开候选集：candidate_k 20 → 40，让重排有更多可选的召回结果。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关掉重排：本轮语料上重排反而压低 NDCG，关闭同时降低延迟与降级率。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调细分块：chunk_size 512 → 384，块更贴合单段论述，命中率上升。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0235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5230368"/>
            <a:ext cx="50292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102352"/>
            <a:ext cx="1065550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提升来自三项参数的交互：单项消融并非都为正 —— 只调细 chunk_size 时 NDCG@5 反而 -0.0121。参数调优要联合验证，不能把单项最优当成整体最优。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踩坑记录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三条被实测数据推翻的直觉 —— 每条都有指标兜底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3466490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3986783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481328"/>
            <a:ext cx="402336" cy="347472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81328"/>
            <a:ext cx="4023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295442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重排序不是越多越好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96896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16352"/>
            <a:ext cx="295442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直觉上「多加一层重排精度更高」，于是把它设成了默认开启。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38144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657600"/>
            <a:ext cx="29544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叠加重排后严格 NDCG@5 0.5827 → 0.5681；关掉重排后降级率 16.4% → 3.3%。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663440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教训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82896"/>
            <a:ext cx="29544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特征工程要拿指标验证，别拿直觉上线；重排的收益依赖语料与候选集质量。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2602" y="1261872"/>
            <a:ext cx="3466490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2602" y="1389888"/>
            <a:ext cx="50292" cy="3986783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36922" y="1481328"/>
            <a:ext cx="402336" cy="34747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922" y="1481328"/>
            <a:ext cx="4023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922" y="1938528"/>
            <a:ext cx="295442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「能召回」≠「排得准」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922" y="2596896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922" y="2816352"/>
            <a:ext cx="295442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 Hit@5 选了 recursive 切分，却发现排序质量并不是最好的。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922" y="3438144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922" y="3657600"/>
            <a:ext cx="29544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Hit@5 最优 recursive 0.8033，NDCG@5 最优 fixed 0.6530。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922" y="4663440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教训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922" y="4882896"/>
            <a:ext cx="29544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召回与排序是两个目标，选型要同时看两类指标，否则会选到「能搜到但排得差」的配置。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8276" y="1261872"/>
            <a:ext cx="3466490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8276" y="1389888"/>
            <a:ext cx="50292" cy="3986783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32596" y="1481328"/>
            <a:ext cx="402336" cy="34747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2596" y="1481328"/>
            <a:ext cx="4023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596" y="1938528"/>
            <a:ext cx="295442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缓存的两条硬规则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2596" y="2596896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现象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596" y="2816352"/>
            <a:ext cx="295442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缓存本是为了快，但两次实现在「正确性」和「性能」上各踩一坑。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2596" y="3438144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2596" y="3657600"/>
            <a:ext cx="29544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降级答案入库会把「答不出来」固化成缓存；写入路径曾用 SELECT * 读回整行（含答案正文）再逐条算余弦，未命中时反序列化数 MB 文本。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596" y="4663440"/>
            <a:ext cx="295442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教训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2596" y="4882896"/>
            <a:ext cx="29544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降级/空答案一律不缓存；打分只取轻量列 + 一次矩阵乘，命中后再读正文。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部署与复现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三步启动、Docker 一键部署、评测一键复现 —— 评委可当场验证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5806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2578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08175"/>
            <a:ext cx="5349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三步启动（默认离线 mock 模式，无需任何密钥）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5349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# 1) 安装唯一必需依赖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pip install numpy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# 2) 配置 API 密钥（用真实模型时才需要）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-m src.utils.secrets set llm_api_key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# 3) 环境自检 + 生成样例论文 + 建立索引 + 启动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scripts/bootstrap.py --index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run.py     # 自动打开 http://127.0.0.1:8501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3" y="1261872"/>
            <a:ext cx="4894783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9983" y="1389888"/>
            <a:ext cx="50292" cy="2578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408175"/>
            <a:ext cx="4437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Docker 与无界面校验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828800"/>
            <a:ext cx="4437583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docker compose -f docker/docker-compose.yml up -d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run.py --health        # 自检各后端可用性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run.py --list-tools   # 打印 8 个工具与参数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run.py --cli          # 无浏览器环境下问答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端口默认 8501，被占用时自动向后寻找并在日志中提示。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15968"/>
            <a:ext cx="11057839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4443983"/>
            <a:ext cx="50292" cy="9144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315968"/>
            <a:ext cx="10655503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07408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复现本 PPT 与交付书里的全部数字（三条命令）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36592"/>
            <a:ext cx="1060063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-m src.evaluation.eval_set            # 生成 61 题评测集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APP_LLM__PROVIDER=mock python -m src.evaluation.report --quick   # 评测 + 报告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python -m src.evaluation.chunking_experiment  # 四种分块策略对比实验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02336"/>
            <a:ext cx="91440" cy="457199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29184"/>
            <a:ext cx="108200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局限与展望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1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缺口如实列在这里：评测跑在离线后端、语料是合成样例 —— 交付书与报告中同样标注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5350611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0292" cy="35844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08175"/>
            <a:ext cx="4893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当前局限（如实标注，非待办美化）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83854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语料为 3 篇脚本合成的样例论文，未达课程建议的 10–20 篇真实论文；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Embedding 实测走 hash 后端（词面相似度），bge / m3e 对比未做；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Chroma / FAISS 适配器已实现但环境未安装，实测走 NumPy 后端；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生成参数（Temperature / Top-p / Top-k）对比实验未做 —— 评测跑在 mock 后端下无意义；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答案质量的人工评分表未附。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4155" y="1261872"/>
            <a:ext cx="5350611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4155" y="1389888"/>
            <a:ext cx="50292" cy="35844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0187" y="1408175"/>
            <a:ext cx="48934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下一步（按优先级）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83854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换真实论文语料（10 篇以上），重跑全部评测与对比实验；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接入 bge-large-zh 与真实大模型，复测检索与生成质量；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跨语言检索优化：当前 P1 根因是 hash 词面向量对中英跨语言无信号；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补齐生成参数对比实验与人工评分表。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85232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5413248"/>
            <a:ext cx="50292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85232"/>
            <a:ext cx="1065550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 i="0">
                <a:solidFill>
                  <a:srgbClr val="4F46E5"/>
                </a:solidFill>
                <a:latin typeface="微软雅黑"/>
                <a:ea typeface="微软雅黑"/>
                <a:cs typeface="微软雅黑"/>
              </a:rPr>
              <a:t>谢谢 / Q &amp; A　　代码与文档见交付包：README.md · docs/技术设计文档.md · docs/用户使用手册.md · reports/系统评测报告.md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64224"/>
            <a:ext cx="7740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智能科研助理 · 基于 RAG + Agent 的论文知识库问答系统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7415" y="6364224"/>
            <a:ext cx="3317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智能科研助理 —— 基于 RAG + Agent 的论文知识库问答系统</dc:title>
  <dc:subject/>
  <dc:creator>智能科研助理项目组</dc:creator>
  <cp:keywords/>
  <dc:description>由 scripts/make_ppt.py 生成；指标与 reports/ 下的评测产物同源。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